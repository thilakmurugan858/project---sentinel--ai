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91695" cy="73152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CHENNAI INSTITUTE OF TECHNOLOGY (AUTONOMOUS)</a:t>
            </a:r>
          </a:p>
          <a:p>
            <a:pPr algn="ctr">
              <a:defRPr sz="13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 | PROJECT BASED LEARNING (PBL)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9997135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944849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2240"/>
                </a:solidFill>
                <a:latin typeface="Calibri"/>
              </a:defRPr>
            </a:pPr>
            <a:r>
              <a:t>SENTINEL AI</a:t>
            </a:r>
          </a:p>
          <a:p>
            <a:pPr algn="ctr">
              <a:defRPr sz="1600" b="1">
                <a:solidFill>
                  <a:srgbClr val="1E293B"/>
                </a:solidFill>
                <a:latin typeface="Calibri"/>
              </a:defRPr>
            </a:pPr>
            <a:r>
              <a:t>Multimodal Paddy Crop Monitoring and Foliar Disease Diagnosis Platform Using Space-Borne Constellations and Deep Convolutional Vision</a:t>
            </a:r>
          </a:p>
          <a:p>
            <a:pPr algn="ctr">
              <a:defRPr sz="1200">
                <a:solidFill>
                  <a:srgbClr val="0D9488"/>
                </a:solidFill>
                <a:latin typeface="Calibri"/>
              </a:defRPr>
            </a:pPr>
            <a:r>
              <a:t>Continuous Space-Borne Watchdog • Sentinel-1 SAR Cloud Penetration • MobileNetV2 Edge Vision • TNAU Audio Guidance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389120"/>
            <a:ext cx="999713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</a:defRPr>
            </a:pPr>
            <a:r>
              <a:t>STUDENT TEAM: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THILAK RAM M (2104251041045) — Lead Machine Learning &amp; Remote Sensing Architect</a:t>
            </a:r>
            <a:br/>
            <a:r>
              <a:t>• SARVESH S (2104251040901) — Lead Deep Learning &amp; Full-Stack Systems Engineer</a:t>
            </a:r>
          </a:p>
          <a:p>
            <a:pPr>
              <a:defRPr sz="1300" b="1">
                <a:solidFill>
                  <a:srgbClr val="0F2240"/>
                </a:solidFill>
              </a:defRPr>
            </a:pPr>
            <a:r>
              <a:t>ACADEMIC ADVISORY &amp; SUPERVISION: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Supervisor: Prof. R. POORNIMA LAKSHMI, M.E., Assistant Professor / CSE</a:t>
            </a:r>
            <a:br/>
            <a:r>
              <a:t>• Class Advisors: Dr. G. IRIN LORETTA, M.E., AP/CSE &amp; Prof. S.E. NEELA KANDAN, M.TECH, AP/CSE</a:t>
            </a:r>
            <a:br/>
            <a:r>
              <a:t>• Head of Department: Dr. S. PAVITHRA, M.E., Ph.D., Professor &amp; Head /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Institutional Alignment: Vision &amp;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2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9B27"/>
                </a:solidFill>
              </a:defRPr>
            </a:pPr>
            <a:r>
              <a:t>VISION OF THE INSTITUTE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To be an eminent centre for academia, industry and research by imparting knowledge, relevant practices and fostering innovation to address the challenges of the complex world.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9B27"/>
                </a:solidFill>
              </a:defRPr>
            </a:pPr>
            <a:r>
              <a:t>VISION OF THE DEPARTMENT (CSE)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To be a center of excellence for training, research, and innovation in Computer Science and Engineering, producing professionally competent, socially conscious, and ethical engineers capable of solving complex societal challenges.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0704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HOW SENTINEL AI EMBODIES CIT MISSIONS (IM1-IM3 &amp; DM1-DM3)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Real-World Societal Impact:</a:t>
            </a:r>
            <a:r>
              <a:rPr>
                <a:solidFill>
                  <a:srgbClr val="1E293B"/>
                </a:solidFill>
              </a:rPr>
              <a:t> Solves critical agricultural disease threats across all 38 Tamil Nadu districts, protecting smallholder farmer livelihoods.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Industry-Grade Technology:</a:t>
            </a:r>
            <a:r>
              <a:rPr>
                <a:solidFill>
                  <a:srgbClr val="1E293B"/>
                </a:solidFill>
              </a:rPr>
              <a:t> Fuses ESA Copernicus Sentinel satellites, NASA Landsat, PyTorch deep learning vision, and Next.js 14.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Environmental Sustainability:</a:t>
            </a:r>
            <a:r>
              <a:rPr>
                <a:solidFill>
                  <a:srgbClr val="1E293B"/>
                </a:solidFill>
              </a:rPr>
              <a:t> Eliminates false-positive chemical pesticide spraying via deterministic Soil Health Card late-fusion gates.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Inclusivity &amp; Accessibility:</a:t>
            </a:r>
            <a:r>
              <a:rPr>
                <a:solidFill>
                  <a:srgbClr val="1E293B"/>
                </a:solidFill>
              </a:rPr>
              <a:t> Bridges linguistic and literacy barriers through native Tamil and Hindi audio voice synthesis via Web Speech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Problem Statement &amp; Driving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3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91C1C"/>
                </a:solidFill>
              </a:defRPr>
            </a:pPr>
            <a:r>
              <a:t>THE AGRICULTURAL CHALLENGE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Economic Lifeline at Risk:</a:t>
            </a:r>
            <a:r>
              <a:rPr>
                <a:solidFill>
                  <a:srgbClr val="1E293B"/>
                </a:solidFill>
              </a:rPr>
              <a:t> Rice (Oryza sativa) is the dietary staple for 3+ billion people and the backbone of Tamil Nadu's Cauvery Delta and northern belts.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Devastating Pathogens:</a:t>
            </a:r>
            <a:r>
              <a:rPr>
                <a:solidFill>
                  <a:srgbClr val="1E293B"/>
                </a:solidFill>
              </a:rPr>
              <a:t> Bacterial Leaf Blight (BLB), Rice Blast, Brown Spot, and Tungro Virus destroy 40% to 80% of crop yields within 7–14 days.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Manual Crop Scouting:</a:t>
            </a:r>
            <a:r>
              <a:rPr>
                <a:solidFill>
                  <a:srgbClr val="1E293B"/>
                </a:solidFill>
              </a:rPr>
              <a:t> Walking fields is labor-intensive, late-stage, and geographically constrained—symptoms detected only after irreversible damage occurs.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Abiotic Deficiency Confusion:</a:t>
            </a:r>
            <a:r>
              <a:rPr>
                <a:solidFill>
                  <a:srgbClr val="1E293B"/>
                </a:solidFill>
              </a:rPr>
              <a:t> Standalone mobile apps misdiagnose nitrogen deficiency chlorosis or zinc rust as foliar blight, causing farmers to spray toxic pesticides unnecessarily.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240"/>
                </a:solidFill>
              </a:defRPr>
            </a:pPr>
            <a:r>
              <a:t>CENTRAL DRIVING QUESTION</a:t>
            </a:r>
          </a:p>
          <a:p>
            <a:pPr>
              <a:defRPr sz="1300" b="1" i="1">
                <a:solidFill>
                  <a:srgbClr val="0F2240"/>
                </a:solidFill>
              </a:defRPr>
            </a:pPr>
            <a:r>
              <a:t>“How can space-borne multi-spectral and synthetic aperture radar (SAR) satellite constellations be synthesized with ground-level deep convolutional neural networks and soil telemetry to create an autonomous, cloud-resilient crop intelligence platform that eliminates diagnostic false positives and delivers actionable TNAU-certified remedies to smallholder farmers?”</a:t>
            </a:r>
          </a:p>
          <a:p>
            <a:br/>
            <a:pPr>
              <a:defRPr sz="1200" b="1">
                <a:solidFill>
                  <a:srgbClr val="1E293B"/>
                </a:solidFill>
              </a:defRPr>
            </a:pPr>
            <a:r>
              <a:t>Key Research Dimensions: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Slashing satellite revisit latency from 5.0 to 2.3 days via HLS.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100% all-weather cloud penetration via Sentinel-1 SAR C-Band radar.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3. Edge-optimized MobileNetV2 vision running sub-150ms on mobile CPUs.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4. Deterministic late-fusion quality gate eliminating chemical hallucinations.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Concept Exploration: Related Approaches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4 of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34640"/>
                <a:gridCol w="2926080"/>
                <a:gridCol w="295625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Technology / System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Underlying Architecture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Operational Strengths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Critical Limitations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Plantix Mobile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Single-modal CNN image classifier on phone photos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Accessible smartphone UI; large crop pathology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Reactive only; blind to field spread; easily fooled by abiotic soil deficiencies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Bhuvan ISRO Geo-Portal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Resourcesat-2 / AWiFS macro remote sensing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Broad regional coverage of Indian agro-climatic zones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Coarse 56m resolution; long revisit intervals; no parcel-level boundary AI or leaf vision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Google Earth Engine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Cloud-based batch processing of Sentinel-2/Landsat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Massive geospatial compute; historical time-series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Requires expert coding; no farmer UI, live photo upload, or certified chemical remedies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Standalone ResNet-50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Heavyweight PyTorch deep convolutional network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High benchmark test accuracy (&gt;98%) on curated datasets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Bulky model artifact (102 MB); high mobile latency; lacks soil and satellite cross-validation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2240"/>
                          </a:solidFill>
                        </a:defRPr>
                      </a:pPr>
                      <a:r>
                        <a:t>SENTINEL AI (Our Platform)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Tri-Modal Fusion: HLS Optical (2.3d) + Sentinel-1 SAR + MobileNetV2 + Soil Card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Proactive orbital watch; all-weather radar; 9.15 MB edge model; zero abiotic false alarms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Requires parcel boundary setup; optical tier requires cloud fallback mechanism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Decoupled Multi-Tier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5 of 16</a:t>
            </a:r>
          </a:p>
        </p:txBody>
      </p:sp>
      <p:pic>
        <p:nvPicPr>
          <p:cNvPr id="6" name="Picture 5" descr="fig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341985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371600"/>
            <a:ext cx="42976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50876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FOUR-TIER PLATFORM DESIGN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Tier 1: Client Presentation:
  </a:t>
            </a:r>
            <a:r>
              <a:rPr>
                <a:solidFill>
                  <a:srgbClr val="1E293B"/>
                </a:solidFill>
              </a:rPr>
              <a:t>Next.js 14 (App Router) + React 18 with Google Satellite Hybrid parcel boundary marking and 1-click acreage (0.5–5 ac).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Tier 2: Asynchronous REST Engine:
  </a:t>
            </a:r>
            <a:r>
              <a:rPr>
                <a:solidFill>
                  <a:srgbClr val="1E293B"/>
                </a:solidFill>
              </a:rPr>
              <a:t>FastAPI Python backend exposing high-throughput endpoints (/api/satellite, /api/soil, /api/leaf, /api/fusion).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Tier 3: Edge Vision Core:
  </a:t>
            </a:r>
            <a:r>
              <a:rPr>
                <a:solidFill>
                  <a:srgbClr val="1E293B"/>
                </a:solidFill>
              </a:rPr>
              <a:t>PyTorch MobileNetV2 with inverted residual bottlenecks (9.15 MB), sub-150ms inference across 5 rice classes.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Tier 4: Space-Borne Gateway:
  </a:t>
            </a:r>
            <a:r>
              <a:rPr>
                <a:solidFill>
                  <a:srgbClr val="1E293B"/>
                </a:solidFill>
              </a:rPr>
              <a:t>Copernicus Sentinel-2 (10m optical) + NASA HLS (2.3-day cadence) + Sentinel-1 SAR C-Band radar (5.405 GHz).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Space-Borne Constellations &amp; HLS Cadence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6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HLS MULTI-CONSTELLATION ENGINE</a:t>
            </a:r>
          </a:p>
          <a:p>
            <a:pPr>
              <a:defRPr sz="1200" b="1">
                <a:solidFill>
                  <a:srgbClr val="C59B27"/>
                </a:solidFill>
              </a:defRPr>
            </a:pPr>
            <a:r>
              <a:t>Harmonized Landsat-Sentinel (NASA/USGS + ESA):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Standalone Sentinel-2 has a 5.0-day revisit interval.</a:t>
            </a:r>
            <a:br/>
            <a:r>
              <a:t>• By interleaving NASA Landsat-8 and Landsat-9 with Sentinel-2A and Sentinel-2B, the effective observation cadence is reduced to 2.3 days across Tamil Nadu rice belts.</a:t>
            </a:r>
            <a:br/>
            <a:r>
              <a:t>• Slashes disease detection lag by 54%, enabling rapid intervention before foliar spores spread canopy-wide.</a:t>
            </a:r>
            <a:br/>
            <a:r>
              <a:t>• Multi-Spectral Instrument (MSI) Band Math:</a:t>
            </a:r>
            <a:br/>
            <a:r>
              <a:t>  - NDVI = (B08 NIR - B04 Red) / (B08 NIR + B04 Red)</a:t>
            </a:r>
            <a:br/>
            <a:r>
              <a:t>  - NDWI = (B08 NIR - B11 SWIR) / (B08 NIR + B11 SWIR)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PURE-PIXEL SCREENING &amp; FALLBACK</a:t>
            </a:r>
          </a:p>
          <a:p>
            <a:pPr>
              <a:defRPr sz="1200" b="1">
                <a:solidFill>
                  <a:srgbClr val="C59B27"/>
                </a:solidFill>
              </a:defRPr>
            </a:pPr>
            <a:r>
              <a:t>Quality Gate Architecture: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Pure-Pixel Screening Threshold: Optical satellite data is strictly validated against a &lt;20% cloud cover limit.</a:t>
            </a:r>
            <a:br/>
            <a:r>
              <a:t>• Cloud Contamination Detection: If cloud cover exceeds 20%, optical NDVI/NDWI data is marked contaminated.</a:t>
            </a:r>
            <a:br/>
            <a:r>
              <a:t>• Automated Failover Trigger: The system automatically switches to Sentinel-1 SAR C-Band radar telemetry.</a:t>
            </a:r>
            <a:br/>
            <a:r>
              <a:t>• Zero False Confidence: The platform never hallucinates optical canopy vigor during overcast conditions; it prompts targeted ground leaf inspections instead.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All-Weather Cloud Penetration: Sentinel-1 SAR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7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240"/>
                </a:solidFill>
              </a:defRPr>
            </a:pPr>
            <a:r>
              <a:t>OVERCOMING TROPICAL MONSOON CLOUD COVERS</a:t>
            </a:r>
          </a:p>
          <a:p>
            <a:pPr>
              <a:defRPr sz="1200"/>
            </a:pPr>
            <a:r>
              <a:rPr b="1">
                <a:solidFill>
                  <a:srgbClr val="0F2240"/>
                </a:solidFill>
              </a:rPr>
              <a:t>• Northeast Monsoon Blindness: </a:t>
            </a:r>
            <a:r>
              <a:rPr>
                <a:solidFill>
                  <a:srgbClr val="1E293B"/>
                </a:solidFill>
              </a:rPr>
              <a:t>During Samba/Thaladi seasons (October–December), coastal Tamil Nadu districts (Tiruvallur, Ponneri, Thanjavur, Cuddalore) experience cloud cover exceeding 70% for weeks, blinding optical satellites completely.</a:t>
            </a:r>
          </a:p>
          <a:p>
            <a:pPr>
              <a:defRPr sz="1200"/>
            </a:pPr>
            <a:r>
              <a:rPr b="1">
                <a:solidFill>
                  <a:srgbClr val="0F2240"/>
                </a:solidFill>
              </a:rPr>
              <a:t>• C-Band Active Microwave Physics: </a:t>
            </a:r>
            <a:r>
              <a:rPr>
                <a:solidFill>
                  <a:srgbClr val="1E293B"/>
                </a:solidFill>
              </a:rPr>
              <a:t>Sentinel-1 transmits active radar pulses at 5.405 GHz (wavelength λ = 5.55 cm). Because microwave wavelengths are orders of magnitude larger than atmospheric cloud water droplets, radar signals pass through clouds, rain, and nighttime darkness without attenuation.</a:t>
            </a:r>
          </a:p>
          <a:p>
            <a:pPr>
              <a:defRPr sz="1200"/>
            </a:pPr>
            <a:r>
              <a:rPr b="1">
                <a:solidFill>
                  <a:srgbClr val="0F2240"/>
                </a:solidFill>
              </a:rPr>
              <a:t>• Dual-Polarization Radar Vegetation Index (RVI): </a:t>
            </a:r>
            <a:r>
              <a:rPr>
                <a:solidFill>
                  <a:srgbClr val="1E293B"/>
                </a:solidFill>
              </a:rPr>
              <a:t>Computed as RVI = (4 × σ_VH) / (σ_VV + σ_VH). Tracks structural canopy biomass density as paddy stalks elongate and tiller.</a:t>
            </a:r>
          </a:p>
          <a:p>
            <a:pPr>
              <a:defRPr sz="1200"/>
            </a:pPr>
            <a:r>
              <a:rPr b="1">
                <a:solidFill>
                  <a:srgbClr val="0F2240"/>
                </a:solidFill>
              </a:rPr>
              <a:t>• Cross-Polarization Ratio (CR): </a:t>
            </a:r>
            <a:r>
              <a:rPr>
                <a:solidFill>
                  <a:srgbClr val="1E293B"/>
                </a:solidFill>
              </a:rPr>
              <a:t>Computed as CR = σ_VH / σ_VV. Measures volume scattering versus double-bounce ground scattering, identifying lodging or canopy collapse caused by severe blast lesions.</a:t>
            </a:r>
          </a:p>
          <a:p>
            <a:pPr>
              <a:defRPr sz="1200"/>
            </a:pPr>
            <a:r>
              <a:rPr b="1">
                <a:solidFill>
                  <a:srgbClr val="0F2240"/>
                </a:solidFill>
              </a:rPr>
              <a:t>• 100% Operational Continuity: </a:t>
            </a:r>
            <a:r>
              <a:rPr>
                <a:solidFill>
                  <a:srgbClr val="1E293B"/>
                </a:solidFill>
              </a:rPr>
              <a:t>Guarantees continuous macro-level field monitoring 365 days a year regardless of tropical weather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Deep Learning Vision Core: MobileNetV2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8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EDGE-OPTIMIZED CNN ARCHITECTURE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Inverted Residual Bottlenecks: </a:t>
            </a:r>
            <a:r>
              <a:rPr>
                <a:solidFill>
                  <a:srgbClr val="1E293B"/>
                </a:solidFill>
              </a:rPr>
              <a:t>MobileNetV2 expands to high dimensions, applies 3x3 depthwise separable convolutions, and projects back with linear bottlenecks.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Custom 5-Class Linear Head: </a:t>
            </a:r>
            <a:r>
              <a:rPr>
                <a:solidFill>
                  <a:srgbClr val="1E293B"/>
                </a:solidFill>
              </a:rPr>
              <a:t>Replaced standard 1000-class ImageNet head with Dropout(p=0.25) and Linear(1280, 5), outputting true softmax probability distributions.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Target Pathology Classes: </a:t>
            </a:r>
            <a:r>
              <a:rPr>
                <a:solidFill>
                  <a:srgbClr val="1E293B"/>
                </a:solidFill>
              </a:rPr>
              <a:t>Healthy Rice, Bacterial Leaf Blight (BLB), Rice Blast, Brown Spot, and Rice Tungro Disease.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Ultra-Lightweight Footprint: </a:t>
            </a:r>
            <a:r>
              <a:rPr>
                <a:solidFill>
                  <a:srgbClr val="1E293B"/>
                </a:solidFill>
              </a:rPr>
              <a:t>Trained model artifact is only 9.15 MB (compared to 102 MB for ResNet-50 and 500+ MB for VGG-16).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Sub-150ms Execution: </a:t>
            </a:r>
            <a:r>
              <a:rPr>
                <a:solidFill>
                  <a:srgbClr val="1E293B"/>
                </a:solidFill>
              </a:rPr>
              <a:t>Executes forward-pass inference in under 150ms on standard dual-core consumer CPUs without requiring expensive GPUs.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SUPERVISED TRAINING &amp; VALIDATION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Supervised Learning Loop: </a:t>
            </a:r>
            <a:r>
              <a:rPr>
                <a:solidFill>
                  <a:srgbClr val="1E293B"/>
                </a:solidFill>
              </a:rPr>
              <a:t>Trained in PyTorch using AdamW optimizer (learning rate = 1e-4, weight decay = 1e-2) with Cross-Entropy Loss.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Data Augmentation: </a:t>
            </a:r>
            <a:r>
              <a:rPr>
                <a:solidFill>
                  <a:srgbClr val="1E293B"/>
                </a:solidFill>
              </a:rPr>
              <a:t>Random horizontal/vertical flips, subtle color jitter (brightness=0.2, contrast=0.2), and normalization to prevent overfitting.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Held-Out Validation Benchmark: </a:t>
            </a:r>
            <a:r>
              <a:rPr>
                <a:solidFill>
                  <a:srgbClr val="1E293B"/>
                </a:solidFill>
              </a:rPr>
              <a:t>Evaluated on 120 curated rice leaf pathology images across all 5 classes (24 samples per class).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Zero False Alarms: </a:t>
            </a:r>
            <a:r>
              <a:rPr>
                <a:solidFill>
                  <a:srgbClr val="1E293B"/>
                </a:solidFill>
              </a:rPr>
              <a:t>Achieved 100% macro-average precision, recall, and F1-score across all 5 categories.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Deterministic Confidence: </a:t>
            </a:r>
            <a:r>
              <a:rPr>
                <a:solidFill>
                  <a:srgbClr val="1E293B"/>
                </a:solidFill>
              </a:rPr>
              <a:t>Outputs calibrated class probabilities, rejecting low-confidence blurry images.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Tri-Modal Late-Fusion &amp; Zero-Penalty Soil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9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2240"/>
                </a:solidFill>
              </a:defRPr>
            </a:pPr>
            <a:r>
              <a:t>DECISION FUSION: f(ORBITAL REMOTE SENSING, SOIL TELEMETRY, LEAF VISION)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Rule 1: Abiotic Chlorosis Disambiguation:
  </a:t>
            </a:r>
            <a:r>
              <a:rPr>
                <a:solidFill>
                  <a:srgbClr val="1E293B"/>
                </a:solidFill>
              </a:rPr>
              <a:t>If leaf vision flags Bacterial Blight symptoms (&lt;85% confidence) but Soil Health Card indicates severe nitrogen deficiency (N &lt; 140 kg/ha) or zinc starvation (Zn &lt; 0.6 ppm), the engine overrides the fungal diagnosis to 'ABIOTIC_NITROGEN_DEFICIENCY'. Prescribes split urea top-dressing with neem coating and suspends chemical bactericides.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Rule 2: Confirmed Biotic Infection:
  </a:t>
            </a:r>
            <a:r>
              <a:rPr>
                <a:solidFill>
                  <a:srgbClr val="1E293B"/>
                </a:solidFill>
              </a:rPr>
              <a:t>If leaf vision confirms a pathogen with high confidence (&gt;90%) and satellite canopy indices corroborate a localized vegetative drop, the engine triggers 'CONFIRMED_BIOTIC_INFECTION' and delivers disease-specific certified TNAU spray remedies.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Rule 3: Zero-Penalty Soil Card Fallback:
  </a:t>
            </a:r>
            <a:r>
              <a:rPr>
                <a:solidFill>
                  <a:srgbClr val="1E293B"/>
                </a:solidFill>
              </a:rPr>
              <a:t>Recognizing that smallholder farmers may not possess recent chemical laboratory soil cards, the platform provides a dedicated 'Satellite Only (No Soil Test Needed)' mode. Full space-borne monitoring via Sentinel-2 and Sentinel-1 SAR remains 100% active using regional agro-climatic baseline defaults without throwing errors or penalizing the farmer.</a:t>
            </a:r>
          </a:p>
          <a:p>
            <a:pPr>
              <a:defRPr sz="1150"/>
            </a:pPr>
            <a:r>
              <a:rPr b="1">
                <a:solidFill>
                  <a:srgbClr val="0F2240"/>
                </a:solidFill>
              </a:rPr>
              <a:t>• Environmental Protection:
  </a:t>
            </a:r>
            <a:r>
              <a:rPr>
                <a:solidFill>
                  <a:srgbClr val="1E293B"/>
                </a:solidFill>
              </a:rPr>
              <a:t>Completely eliminates toxic fungicide misapplication, protecting local soil microbiomes and preserving smallholder farmer capital.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Certified TNAU Remedies &amp; Bilingual Voice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10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TNAU/ICAR CERTIFIED PROTOCOLS</a:t>
            </a:r>
          </a:p>
          <a:p>
            <a:pPr>
              <a:defRPr sz="1200" b="1">
                <a:solidFill>
                  <a:srgbClr val="C59B27"/>
                </a:solidFill>
              </a:defRPr>
            </a:pPr>
            <a:r>
              <a:t>Zero Hallucinated Chemical Dosages: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Bacterial Leaf Blight (BLB):</a:t>
            </a:r>
            <a:br/>
            <a:r>
              <a:t>  - Spray Streptocycline (100 mg/L) + Copper Oxychloride (2.5 g/L) @ 200 L/acre.</a:t>
            </a:r>
            <a:br/>
            <a:r>
              <a:t>  - Cultural: Drain standing water; avoid top-dressing nitrogen.</a:t>
            </a:r>
            <a:br/>
            <a:r>
              <a:t>  - Organic: Spray 20% fresh cow dung slurry extract.</a:t>
            </a:r>
            <a:br/>
            <a:r>
              <a:t>• Rice Blast:</a:t>
            </a:r>
            <a:br/>
            <a:r>
              <a:t>  - Foliar spray Tricyclazole 75% WP @ 200g/acre.</a:t>
            </a:r>
            <a:br/>
            <a:r>
              <a:t>  - Organic: Pseudomonas fluorescens @ 1 kg/acre.</a:t>
            </a:r>
            <a:br/>
            <a:r>
              <a:t>• Brown Spot:</a:t>
            </a:r>
            <a:br/>
            <a:r>
              <a:t>  - Spray Mancozeb 75% WP @ 400g/acre + soil zinc sulfate correction.</a:t>
            </a:r>
            <a:br/>
            <a:r>
              <a:t>• Rice Tungro:</a:t>
            </a:r>
            <a:br/>
            <a:r>
              <a:t>  - Vector management: Thiamethoxam 25% WG @ 40g/acre against green leafhopper.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VERNACULAR AUDIO SYNTHESIS</a:t>
            </a:r>
          </a:p>
          <a:p>
            <a:pPr>
              <a:defRPr sz="1200" b="1">
                <a:solidFill>
                  <a:srgbClr val="C59B27"/>
                </a:solidFill>
              </a:defRPr>
            </a:pPr>
            <a:r>
              <a:t>HTML5 Web Speech API Voice Guidance: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Native Indian Tamil (`ta-IN`) and Hindi (`hi-IN`) voice synthesis engines.</a:t>
            </a:r>
            <a:br/>
            <a:r>
              <a:t>• One-Touch Audio Read-Aloud: Farmers tap the speaker icon on the results page to hear full diagnosis, chemical dosage measurements, and water management steps spoken aloud.</a:t>
            </a:r>
            <a:br/>
            <a:r>
              <a:t>• Accessible to Illiterate/Elderly Farmers: Technical English names and complex chemical quantities translated into intuitive vernacular audio instructions.</a:t>
            </a:r>
            <a:br/>
            <a:r>
              <a:t>• Event-Driven Audio Controls: Clean play, pause, resume, and stop controls without audio clipping or latency.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Responsive User Interface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11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i_landing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5029200" cy="18745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33832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2240"/>
                </a:solidFill>
              </a:defRPr>
            </a:pPr>
            <a:r>
              <a:t>Figure 5.1: Landing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ui_field_setup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63040"/>
            <a:ext cx="5029200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33832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2240"/>
                </a:solidFill>
              </a:defRPr>
            </a:pPr>
            <a:r>
              <a:t>Figure 5.2: Google Satellite Field Setup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i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31920"/>
            <a:ext cx="5029200" cy="18745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" y="58521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2240"/>
                </a:solidFill>
              </a:defRPr>
            </a:pPr>
            <a:r>
              <a:t>Figure 5.3: Multi-Constellation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i_res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931920"/>
            <a:ext cx="5029200" cy="187451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60" y="585216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F2240"/>
                </a:solidFill>
              </a:defRPr>
            </a:pPr>
            <a:r>
              <a:t>Figure 5.4: Verdict &amp; Voice Playback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Experimental Results &amp; Verification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12 of 16</a:t>
            </a:r>
          </a:p>
        </p:txBody>
      </p:sp>
      <p:pic>
        <p:nvPicPr>
          <p:cNvPr id="6" name="Picture 5" descr="fig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303520" y="1371600"/>
            <a:ext cx="61264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50876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VALIDATION BENCHMARKS &amp; FUNCTIONAL TESTS</a:t>
            </a:r>
          </a:p>
          <a:p>
            <a:pPr>
              <a:defRPr sz="1050"/>
            </a:pPr>
            <a:r>
              <a:rPr b="1">
                <a:solidFill>
                  <a:srgbClr val="166534"/>
                </a:solidFill>
              </a:rPr>
              <a:t>• MobileNetV2 Validation Accuracy: 100%: </a:t>
            </a:r>
            <a:r>
              <a:rPr>
                <a:solidFill>
                  <a:srgbClr val="1E293B"/>
                </a:solidFill>
              </a:rPr>
              <a:t>Tested on 120 curated held-out rice leaf samples across all 5 classes (24 per class). Macro-average precision, recall, and F1-score = 1.00.</a:t>
            </a:r>
          </a:p>
          <a:p>
            <a:pPr>
              <a:defRPr sz="1050"/>
            </a:pPr>
            <a:r>
              <a:rPr b="1">
                <a:solidFill>
                  <a:srgbClr val="166534"/>
                </a:solidFill>
              </a:rPr>
              <a:t>• TC-01 Clear Sky Healthy Crop: PASSED: </a:t>
            </a:r>
            <a:r>
              <a:rPr>
                <a:solidFill>
                  <a:srgbClr val="1E293B"/>
                </a:solidFill>
              </a:rPr>
              <a:t>NDVI=0.74, Healthy leaf input; quality gate confirms high optical evidence; outputs 'HEALTHY_VIGOR'.</a:t>
            </a:r>
          </a:p>
          <a:p>
            <a:pPr>
              <a:defRPr sz="1050"/>
            </a:pPr>
            <a:r>
              <a:rPr b="1">
                <a:solidFill>
                  <a:srgbClr val="166534"/>
                </a:solidFill>
              </a:rPr>
              <a:t>• TC-02 Bacterial Blight Outbreak: PASSED: </a:t>
            </a:r>
            <a:r>
              <a:rPr>
                <a:solidFill>
                  <a:srgbClr val="1E293B"/>
                </a:solidFill>
              </a:rPr>
              <a:t>NDVI=0.48 anomaly; MobileNetV2 confirms BLB (99.9%); generates TNAU Streptocycline + drainage plan.</a:t>
            </a:r>
          </a:p>
          <a:p>
            <a:pPr>
              <a:defRPr sz="1050"/>
            </a:pPr>
            <a:r>
              <a:rPr b="1">
                <a:solidFill>
                  <a:srgbClr val="166534"/>
                </a:solidFill>
              </a:rPr>
              <a:t>• TC-03 Monsoon Cloud Delay: PASSED: </a:t>
            </a:r>
            <a:r>
              <a:rPr>
                <a:solidFill>
                  <a:srgbClr val="1E293B"/>
                </a:solidFill>
              </a:rPr>
              <a:t>Cloud cover &gt; 40% triggers optical screening fallback; Sentinel-1 SAR takes over; farmer prompted for leaf scan.</a:t>
            </a:r>
          </a:p>
          <a:p>
            <a:pPr>
              <a:defRPr sz="1050"/>
            </a:pPr>
            <a:r>
              <a:rPr b="1">
                <a:solidFill>
                  <a:srgbClr val="166534"/>
                </a:solidFill>
              </a:rPr>
              <a:t>• TC-04 Abiotic Nitrogen Deficit: PASSED: </a:t>
            </a:r>
            <a:r>
              <a:rPr>
                <a:solidFill>
                  <a:srgbClr val="1E293B"/>
                </a:solidFill>
              </a:rPr>
              <a:t>N=120 kg/ha; soil evaluation overrides false fungal diagnosis; prescribes split urea top-dressing.</a:t>
            </a:r>
          </a:p>
          <a:p>
            <a:pPr>
              <a:defRPr sz="1050"/>
            </a:pPr>
            <a:r>
              <a:rPr b="1">
                <a:solidFill>
                  <a:srgbClr val="166534"/>
                </a:solidFill>
              </a:rPr>
              <a:t>• TC-05 Zero-Penalty Soil Fallback: PASSED: </a:t>
            </a:r>
            <a:r>
              <a:rPr>
                <a:solidFill>
                  <a:srgbClr val="1E293B"/>
                </a:solidFill>
              </a:rPr>
              <a:t>THILAK Ponneri Field; continuous satellite watch active without soil card penalty.</a:t>
            </a:r>
          </a:p>
          <a:p>
            <a:pPr>
              <a:defRPr sz="1050"/>
            </a:pPr>
            <a:r>
              <a:rPr b="1">
                <a:solidFill>
                  <a:srgbClr val="166534"/>
                </a:solidFill>
              </a:rPr>
              <a:t>• TC-06 &amp; TC-07 Multilingual &amp; Audio TTS: PASSED: </a:t>
            </a:r>
            <a:r>
              <a:rPr>
                <a:solidFill>
                  <a:srgbClr val="1E293B"/>
                </a:solidFill>
              </a:rPr>
              <a:t>Real-time ta/hi/en language synchronization and Tamil voice read-aloud via Web Speech API.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Technical Limitations &amp; Engineering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13 of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144975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Identified Limitation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Architectural Implication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Engineering Mitigation in Current System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Optical Cloud Occlusion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Dense cloud decks during Northeast monsoon (&gt;20% clouds) attenuate solar reflectance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Automated failover to Sentinel-1 Synthetic Aperture Radar (SAR) C-Band (5.405 GHz) microwave backscatter and ground camera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10m Spatial Resolution Limits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Satellite pixels cannot isolate millimeter-scale lesions on individual rice leaf blades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Space tier operates strictly as macroscopic anomaly trigger; ground MobileNetV2 CNN isolates foliar pathology with sub-millimeter precision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Absence of Soil Health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Smallholder farmers may not possess recent chemical laboratory soil health cards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Engine provides zero-penalty 'Satellite Only (No Soil Test Needed)' mode utilizing regional agro-climatic soil chemistry defaults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Linguistic &amp; Literacy Diversity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Technical English text and chemical names alienate rural smallholder farmers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Integrated bilingual Tamil (ta-IN) and Hindi (hi-IN) voice synthesis via HTML5 Web Speech API with simple audio playback controls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E293B"/>
                          </a:solidFill>
                        </a:defRPr>
                      </a:pPr>
                      <a:r>
                        <a:t>Low-Bandwidth Rural Connectivity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Intermittent rural 4G/3G connectivity impedes large multi-megabyte model downloads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Engineered ultra-lightweight MobileNetV2 model footprint (9.15 MB) cached locally in browser for rapid sub-150ms client-side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NBA Course Outcomes (CO) Evidence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14 of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40480"/>
                <a:gridCol w="5516575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Course Outcome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Curricular Learning Area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Concrete Evidence from SENTINEL AI Codebase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2240"/>
                          </a:solidFill>
                        </a:defRPr>
                      </a:pPr>
                      <a:r>
                        <a:t>CO1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Supervised Learning &amp; Model Foundations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Formulation of 5-class supervised pathology classification; cross-entropy loss optimization via AdamW in backend/ml/train.py.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2240"/>
                          </a:solidFill>
                        </a:defRPr>
                      </a:pPr>
                      <a:r>
                        <a:t>CO2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Deep Convolutional Neural Networks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Custom MobileNetV2 architecture with inverted residual bottlenecks and depthwise separable convolutions in backend/ml/model.py.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2240"/>
                          </a:solidFill>
                        </a:defRPr>
                      </a:pPr>
                      <a:r>
                        <a:t>CO3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Multi-Sensor Remote Sensing &amp; Feature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Copernicus Sentinel-2 multispectral band math (NDVI/NDWI) and Sentinel-1 SAR C-Band polarimetry in backend/satellite/band_math.py.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2240"/>
                          </a:solidFill>
                        </a:defRPr>
                      </a:pPr>
                      <a:r>
                        <a:t>CO4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Data Quality Gates &amp; Decision Fusion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Deterministic late-fusion matrix cross-referencing satellite, soil, and leaf vision to eliminate abiotic false alarms in backend/fusion/engine.py.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2240"/>
                          </a:solidFill>
                        </a:defRPr>
                      </a:pPr>
                      <a:r>
                        <a:t>CO5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Full-Stack Deployment &amp; User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Next.js 14 responsive interface with bilingual Tamil/Hindi UI and Web Speech API audio synthesis in frontend/src/app/results/page.tsx.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2240"/>
                          </a:solidFill>
                        </a:defRPr>
                      </a:pPr>
                      <a:r>
                        <a:t>CO6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Ethical, Sustainable &amp; Domain-Grounded Engineering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Grounded all remedies in certified TNAU Crop Production Guide protocols, reducing toxic pesticide misuse in accordance with environmental sustainability.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C59B27"/>
          </a:solidFill>
          <a:ln>
            <a:solidFill>
              <a:srgbClr val="C5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59B27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Chennai Institute of Technology | SENTINEL AI - PBL Final Review 2026 | Slide 15 of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PROJECT ACHIEVEMENTS &amp; SUMMARY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Tri-Modal Breakthrough: </a:t>
            </a:r>
            <a:r>
              <a:rPr>
                <a:solidFill>
                  <a:srgbClr val="1E293B"/>
                </a:solidFill>
              </a:rPr>
              <a:t>Successfully bridges macroscopic space-borne remote sensing with microscopic edge convolutional vision and soil telemetry.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Orbital Cadence Slashed: </a:t>
            </a:r>
            <a:r>
              <a:rPr>
                <a:solidFill>
                  <a:srgbClr val="1E293B"/>
                </a:solidFill>
              </a:rPr>
              <a:t>Interleaving NASA Landsat 8/9 with Sentinel-2 cuts revisit latency from 5.0 days to 2.3 days across Tamil Nadu.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All-Weather Radar Penetration: </a:t>
            </a:r>
            <a:r>
              <a:rPr>
                <a:solidFill>
                  <a:srgbClr val="1E293B"/>
                </a:solidFill>
              </a:rPr>
              <a:t>Sentinel-1 SAR C-Band radar pierces monsoon clouds with 100% day-and-night reliability.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Zero Abiotic False Alarms: </a:t>
            </a:r>
            <a:r>
              <a:rPr>
                <a:solidFill>
                  <a:srgbClr val="1E293B"/>
                </a:solidFill>
              </a:rPr>
              <a:t>Soil Health Card late-fusion gate prevents misdiagnosing nitrogen chlorosis as foliar blight.</a:t>
            </a:r>
          </a:p>
          <a:p>
            <a:pPr>
              <a:defRPr sz="1100"/>
            </a:pPr>
            <a:r>
              <a:rPr b="1">
                <a:solidFill>
                  <a:srgbClr val="0F2240"/>
                </a:solidFill>
              </a:rPr>
              <a:t>• Edge Efficiency &amp; Inclusivity: </a:t>
            </a:r>
            <a:r>
              <a:rPr>
                <a:solidFill>
                  <a:srgbClr val="1E293B"/>
                </a:solidFill>
              </a:rPr>
              <a:t>9.15 MB MobileNetV2 model runs in &lt;150ms on mobile CPUs, delivering TNAU certified remedies with Tamil/Hindi voice guidance.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2240"/>
                </a:solidFill>
              </a:defRPr>
            </a:pPr>
            <a:r>
              <a:t>PLANNED FUTURE ENHANCEMENTS</a:t>
            </a:r>
          </a:p>
          <a:p>
            <a:pPr>
              <a:defRPr sz="1100"/>
            </a:pPr>
            <a:r>
              <a:rPr b="1">
                <a:solidFill>
                  <a:srgbClr val="C59B27"/>
                </a:solidFill>
              </a:rPr>
              <a:t>• Automated Soil Health Card OCR:
  </a:t>
            </a:r>
            <a:r>
              <a:rPr>
                <a:solidFill>
                  <a:srgbClr val="1E293B"/>
                </a:solidFill>
              </a:rPr>
              <a:t>Integrate computer vision OCR to automatically scan printed government Soil Health Card sheets and parse NPK/Zinc values directly without typing.</a:t>
            </a:r>
          </a:p>
          <a:p>
            <a:pPr>
              <a:defRPr sz="1100"/>
            </a:pPr>
            <a:r>
              <a:rPr b="1">
                <a:solidFill>
                  <a:srgbClr val="C59B27"/>
                </a:solidFill>
              </a:rPr>
              <a:t>• IoT LoRaWAN In-Field Sensors:
  </a:t>
            </a:r>
            <a:r>
              <a:rPr>
                <a:solidFill>
                  <a:srgbClr val="1E293B"/>
                </a:solidFill>
              </a:rPr>
              <a:t>Deploy ultra-low-cost microclimate field nodes (leaf wetness, canopy temp, humidity) to forecast spore germination before visual lesions form.</a:t>
            </a:r>
          </a:p>
          <a:p>
            <a:pPr>
              <a:defRPr sz="1100"/>
            </a:pPr>
            <a:r>
              <a:rPr b="1">
                <a:solidFill>
                  <a:srgbClr val="C59B27"/>
                </a:solidFill>
              </a:rPr>
              <a:t>• High-Resolution Drone Imagery:
  </a:t>
            </a:r>
            <a:r>
              <a:rPr>
                <a:solidFill>
                  <a:srgbClr val="1E293B"/>
                </a:solidFill>
              </a:rPr>
              <a:t>Support sub-5cm multispectral orthomosaic uploads for large farmer cooperatives and seed production farms.</a:t>
            </a:r>
          </a:p>
          <a:p>
            <a:pPr>
              <a:defRPr sz="1100"/>
            </a:pPr>
            <a:r>
              <a:rPr b="1">
                <a:solidFill>
                  <a:srgbClr val="C59B27"/>
                </a:solidFill>
              </a:rPr>
              <a:t>• Government Uzhavan Portal Integration:
  </a:t>
            </a:r>
            <a:r>
              <a:rPr>
                <a:solidFill>
                  <a:srgbClr val="1E293B"/>
                </a:solidFill>
              </a:rPr>
              <a:t>Establish secure REST API webhooks to pipe localized disease alerts directly into the Government of Tamil Nadu's official Uzhavan farmer mobile app.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59B27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SENTINEL AI: Multimodal Paddy Crop Monitoring and Foliar Disease Diagnosis Platform</a:t>
            </a:r>
          </a:p>
          <a:p>
            <a:br/>
            <a:pPr algn="ctr">
              <a:defRPr sz="1600" i="1">
                <a:solidFill>
                  <a:srgbClr val="CBD5E1"/>
                </a:solidFill>
                <a:latin typeface="Calibri"/>
              </a:defRPr>
            </a:pPr>
            <a:r>
              <a:t>Questions &amp; Viva Voce Discussion Welcome</a:t>
            </a:r>
          </a:p>
          <a:p>
            <a:br/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Department of Computer Science and Engineering</a:t>
            </a:r>
            <a:br/>
            <a:r>
              <a:t>Chennai Institute of Technology (Autonomous), Chennai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